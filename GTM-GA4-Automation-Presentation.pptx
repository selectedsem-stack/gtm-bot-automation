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4437" r:id="rId1"/>
    <p:sldMasterId id="2147484424" r:id="rId2"/>
  </p:sldMasterIdLst>
  <p:sldIdLst>
    <p:sldId id="413" r:id="rId3"/>
    <p:sldId id="414" r:id="rId4"/>
    <p:sldId id="415" r:id="rId5"/>
    <p:sldId id="416" r:id="rId6"/>
    <p:sldId id="417" r:id="rId7"/>
    <p:sldId id="425" r:id="rId8"/>
    <p:sldId id="418" r:id="rId9"/>
    <p:sldId id="423" r:id="rId10"/>
    <p:sldId id="424" r:id="rId11"/>
    <p:sldId id="419" r:id="rId12"/>
    <p:sldId id="420" r:id="rId13"/>
    <p:sldId id="421" r:id="rId14"/>
    <p:sldId id="422" r:id="rId15"/>
  </p:sldIdLst>
  <p:sldSz cx="12188825" cy="6858000"/>
  <p:notesSz cx="6858000" cy="9144000"/>
  <p:embeddedFontLst>
    <p:embeddedFont>
      <p:font typeface="Almoni Tzar AAA" panose="020B0206020202020204" charset="-79"/>
      <p:regular r:id="rId16"/>
      <p:bold r:id="rId17"/>
    </p:embeddedFon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B4491495-B39B-4CB7-A3A0-756EA0F286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0761" y="3371850"/>
            <a:ext cx="10367303" cy="3486150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  <a:effectLst>
            <a:outerShdw blurRad="977900" dist="800100" dir="2700000" sx="93000" sy="93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D" sz="1200">
                <a:solidFill>
                  <a:srgbClr val="2C4166"/>
                </a:solidFill>
              </a:defRPr>
            </a:lvl1pPr>
          </a:lstStyle>
          <a:p>
            <a:pPr marL="0" lvl="0"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496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0555" y="964692"/>
            <a:ext cx="772771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0555" y="2638045"/>
            <a:ext cx="772771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
רמה שניה
רמה שלישית
רמה רביעית
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392" y="6238816"/>
            <a:ext cx="2753029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9784" y="6236208"/>
            <a:ext cx="58996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6120" y="6217920"/>
            <a:ext cx="365665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EE95839F-BC8B-9F45-99D0-E60FF4B70F1F}"/>
              </a:ext>
            </a:extLst>
          </p:cNvPr>
          <p:cNvSpPr/>
          <p:nvPr userDrawn="1"/>
        </p:nvSpPr>
        <p:spPr>
          <a:xfrm>
            <a:off x="437222" y="2595716"/>
            <a:ext cx="11314382" cy="5412658"/>
          </a:xfrm>
          <a:custGeom>
            <a:avLst/>
            <a:gdLst>
              <a:gd name="connsiteX0" fmla="*/ 4741863 w 9483726"/>
              <a:gd name="connsiteY0" fmla="*/ 0 h 4535714"/>
              <a:gd name="connsiteX1" fmla="*/ 9483726 w 9483726"/>
              <a:gd name="connsiteY1" fmla="*/ 3734707 h 4535714"/>
              <a:gd name="connsiteX2" fmla="*/ 9387388 w 9483726"/>
              <a:gd name="connsiteY2" fmla="*/ 4487381 h 4535714"/>
              <a:gd name="connsiteX3" fmla="*/ 9373225 w 9483726"/>
              <a:gd name="connsiteY3" fmla="*/ 4535714 h 4535714"/>
              <a:gd name="connsiteX4" fmla="*/ 110501 w 9483726"/>
              <a:gd name="connsiteY4" fmla="*/ 4535714 h 4535714"/>
              <a:gd name="connsiteX5" fmla="*/ 96338 w 9483726"/>
              <a:gd name="connsiteY5" fmla="*/ 4487381 h 4535714"/>
              <a:gd name="connsiteX6" fmla="*/ 0 w 9483726"/>
              <a:gd name="connsiteY6" fmla="*/ 3734707 h 4535714"/>
              <a:gd name="connsiteX7" fmla="*/ 4741863 w 9483726"/>
              <a:gd name="connsiteY7" fmla="*/ 0 h 453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83726" h="4535714">
                <a:moveTo>
                  <a:pt x="4741863" y="0"/>
                </a:moveTo>
                <a:cubicBezTo>
                  <a:pt x="7360722" y="0"/>
                  <a:pt x="9483726" y="1672085"/>
                  <a:pt x="9483726" y="3734707"/>
                </a:cubicBezTo>
                <a:cubicBezTo>
                  <a:pt x="9483726" y="3992535"/>
                  <a:pt x="9450554" y="4244261"/>
                  <a:pt x="9387388" y="4487381"/>
                </a:cubicBezTo>
                <a:lnTo>
                  <a:pt x="9373225" y="4535714"/>
                </a:lnTo>
                <a:lnTo>
                  <a:pt x="110501" y="4535714"/>
                </a:lnTo>
                <a:lnTo>
                  <a:pt x="96338" y="4487381"/>
                </a:lnTo>
                <a:cubicBezTo>
                  <a:pt x="33172" y="4244261"/>
                  <a:pt x="0" y="3992535"/>
                  <a:pt x="0" y="3734707"/>
                </a:cubicBezTo>
                <a:cubicBezTo>
                  <a:pt x="0" y="1672085"/>
                  <a:pt x="2123004" y="0"/>
                  <a:pt x="47418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799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46B6B25-FF01-7F4F-84B8-FE8B03D4D788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6FCFA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799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5C79A-E173-5144-BEC4-F365C3744BD2}"/>
              </a:ext>
            </a:extLst>
          </p:cNvPr>
          <p:cNvSpPr txBox="1"/>
          <p:nvPr userDrawn="1"/>
        </p:nvSpPr>
        <p:spPr>
          <a:xfrm rot="10800000" flipV="1">
            <a:off x="11095631" y="6355819"/>
            <a:ext cx="5619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ts val="1200"/>
              </a:spcBef>
              <a:defRPr sz="1050" spc="300">
                <a:solidFill>
                  <a:srgbClr val="2C4166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r"/>
            <a:fld id="{260E2A6B-A809-4840-BF14-8648BC0BDF87}" type="slidenum">
              <a:rPr lang="id-ID" sz="1050" smtClean="0">
                <a:solidFill>
                  <a:schemeClr val="tx1">
                    <a:lumMod val="65000"/>
                    <a:lumOff val="35000"/>
                    <a:alpha val="40000"/>
                  </a:schemeClr>
                </a:solidFill>
              </a:rPr>
              <a:pPr algn="r"/>
              <a:t>‹#›</a:t>
            </a:fld>
            <a:endParaRPr lang="id-ID" sz="1050" dirty="0">
              <a:solidFill>
                <a:schemeClr val="tx1">
                  <a:lumMod val="65000"/>
                  <a:lumOff val="35000"/>
                  <a:alpha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94EA6-8C39-2446-B0DF-7C1763DBDD2B}"/>
              </a:ext>
            </a:extLst>
          </p:cNvPr>
          <p:cNvSpPr txBox="1"/>
          <p:nvPr userDrawn="1"/>
        </p:nvSpPr>
        <p:spPr>
          <a:xfrm>
            <a:off x="531223" y="243780"/>
            <a:ext cx="48074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050" b="1" spc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Electric Cars //</a:t>
            </a:r>
            <a:r>
              <a:rPr lang="en-US" sz="1050" spc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spc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Electric cars presentation</a:t>
            </a:r>
          </a:p>
        </p:txBody>
      </p:sp>
      <p:cxnSp>
        <p:nvCxnSpPr>
          <p:cNvPr id="11" name="Straight Connector 9">
            <a:extLst>
              <a:ext uri="{FF2B5EF4-FFF2-40B4-BE49-F238E27FC236}">
                <a16:creationId xmlns:a16="http://schemas.microsoft.com/office/drawing/2014/main" id="{B2E9541F-F885-1243-8858-2B4DDDD2CA09}"/>
              </a:ext>
            </a:extLst>
          </p:cNvPr>
          <p:cNvCxnSpPr>
            <a:cxnSpLocks/>
          </p:cNvCxnSpPr>
          <p:nvPr userDrawn="1"/>
        </p:nvCxnSpPr>
        <p:spPr>
          <a:xfrm>
            <a:off x="0" y="374585"/>
            <a:ext cx="399946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375571E6-C100-0044-8490-D8DDA2D04D1B}"/>
              </a:ext>
            </a:extLst>
          </p:cNvPr>
          <p:cNvCxnSpPr>
            <a:cxnSpLocks/>
          </p:cNvCxnSpPr>
          <p:nvPr userDrawn="1"/>
        </p:nvCxnSpPr>
        <p:spPr>
          <a:xfrm>
            <a:off x="11788879" y="6482777"/>
            <a:ext cx="399946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69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tm-bot-automation-zowbjxqgu3tcwgexfdrlmb.streamlit.app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31DBACF6-2BF3-AF12-1C89-28B6778DC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6F95BCA-89EA-C247-BCBD-E170A2786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241" y="2727088"/>
            <a:ext cx="4960342" cy="1042390"/>
          </a:xfrm>
          <a:prstGeom prst="rect">
            <a:avLst/>
          </a:prstGeom>
        </p:spPr>
      </p:pic>
      <p:sp>
        <p:nvSpPr>
          <p:cNvPr id="2" name="Rectangle 73">
            <a:extLst>
              <a:ext uri="{FF2B5EF4-FFF2-40B4-BE49-F238E27FC236}">
                <a16:creationId xmlns:a16="http://schemas.microsoft.com/office/drawing/2014/main" id="{CD675726-702C-3DEC-E705-93641B1373EF}"/>
              </a:ext>
            </a:extLst>
          </p:cNvPr>
          <p:cNvSpPr/>
          <p:nvPr/>
        </p:nvSpPr>
        <p:spPr>
          <a:xfrm>
            <a:off x="-1" y="4158458"/>
            <a:ext cx="12188825" cy="584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1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מערכת אוטומציה GTM + GA</a:t>
            </a:r>
            <a:r>
              <a:rPr lang="en-US" sz="31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4</a:t>
            </a:r>
            <a:r>
              <a:rPr lang="he-IL" sz="31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 | סיכום פרויקט</a:t>
            </a:r>
          </a:p>
        </p:txBody>
      </p:sp>
    </p:spTree>
    <p:extLst>
      <p:ext uri="{BB962C8B-B14F-4D97-AF65-F5344CB8AC3E}">
        <p14:creationId xmlns:p14="http://schemas.microsoft.com/office/powerpoint/2010/main" val="231543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1E729-7963-4D90-8C80-6EADA7E61BD9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הבעיה שפתרנו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988-B3C7-4A08-A254-13571A793B70}"/>
              </a:ext>
            </a:extLst>
          </p:cNvPr>
          <p:cNvSpPr txBox="1"/>
          <p:nvPr/>
        </p:nvSpPr>
        <p:spPr>
          <a:xfrm>
            <a:off x="1066522" y="1270562"/>
            <a:ext cx="10601738" cy="50786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>
              <a:spcAft>
                <a:spcPts val="8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לפני — הקמה ידנית</a:t>
            </a:r>
          </a:p>
          <a:p>
            <a:pPr algn="r" rtl="1">
              <a:spcAft>
                <a:spcPts val="1200"/>
              </a:spcAft>
            </a:pPr>
            <a:r>
              <a:rPr lang="he-IL" sz="16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הקמת GTM + G</a:t>
            </a:r>
            <a:r>
              <a:rPr lang="en-US" sz="16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A4</a:t>
            </a:r>
            <a:r>
              <a:rPr lang="he-IL" sz="16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 ללקוח חדש לקחה 1–2 שעות: כניסה ידנית ל-GTM, פתיחת GA4, הוספת תגים אחד-אחד, הגדרת טריגרים ומשתנים, העתקת סקריפטים, בדיקות ואימות.</a:t>
            </a:r>
          </a:p>
          <a:p>
            <a:pPr algn="r" rtl="1">
              <a:spcAft>
                <a:spcPts val="8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אחרי — אוטומציה מלאה</a:t>
            </a:r>
          </a:p>
          <a:p>
            <a:pPr algn="r" rtl="1">
              <a:spcAft>
                <a:spcPts val="400"/>
              </a:spcAft>
            </a:pPr>
            <a:r>
              <a:rPr lang="he-IL" sz="16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ממשק ווב פשוט, הזנת פרטים, ותוך 30–40 שניות: GTM Container, GA4 Property, כל התגים, קוד HTML מוכן, תיעוד מלא.</a:t>
            </a:r>
          </a:p>
          <a:p>
            <a:pPr algn="r" rtl="1">
              <a:spcAft>
                <a:spcPts val="8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נחסך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זמן: מ-1–2 שעות ל-30–40 שניות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עקביות: כל לקוח מקבל תצורה זהה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שגיאות: אפס — אין עבודה ידנית, אין טעויות אנוש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תיעוד: אוטומטי ומלא — כל ה-IDs, קודים ותגים</a:t>
            </a:r>
          </a:p>
        </p:txBody>
      </p:sp>
    </p:spTree>
    <p:extLst>
      <p:ext uri="{BB962C8B-B14F-4D97-AF65-F5344CB8AC3E}">
        <p14:creationId xmlns:p14="http://schemas.microsoft.com/office/powerpoint/2010/main" val="330861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326B41-A39C-438E-BC81-F4C119C3A14E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בנינו — הכלים והטכנולוגיות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2A6A0D-9DCC-4DCF-9185-0BBB22BA2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927098"/>
              </p:ext>
            </p:extLst>
          </p:nvPr>
        </p:nvGraphicFramePr>
        <p:xfrm>
          <a:off x="1650570" y="1397529"/>
          <a:ext cx="8887685" cy="44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48346">
                  <a:extLst>
                    <a:ext uri="{9D8B030D-6E8A-4147-A177-3AD203B41FA5}">
                      <a16:colId xmlns:a16="http://schemas.microsoft.com/office/drawing/2014/main" val="1639090772"/>
                    </a:ext>
                  </a:extLst>
                </a:gridCol>
                <a:gridCol w="2539339">
                  <a:extLst>
                    <a:ext uri="{9D8B030D-6E8A-4147-A177-3AD203B41FA5}">
                      <a16:colId xmlns:a16="http://schemas.microsoft.com/office/drawing/2014/main" val="241612421"/>
                    </a:ext>
                  </a:extLst>
                </a:gridCol>
              </a:tblGrid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  <a:cs typeface="Almoni Tzar AAA" panose="020B0506020202020204" pitchFamily="34" charset="-79"/>
                        </a:rPr>
                        <a:t>מטרה</a:t>
                      </a:r>
                    </a:p>
                  </a:txBody>
                  <a:tcPr marL="91416" marR="91416" marT="45708" marB="45708" anchor="ctr">
                    <a:solidFill>
                      <a:srgbClr val="F6771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  <a:cs typeface="Almoni Tzar AAA" panose="020B0506020202020204" pitchFamily="34" charset="-79"/>
                        </a:rPr>
                        <a:t>כלי</a:t>
                      </a:r>
                    </a:p>
                  </a:txBody>
                  <a:tcPr marL="91416" marR="91416" marT="45708" marB="45708" anchor="ctr">
                    <a:solidFill>
                      <a:srgbClr val="F67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52815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שפת הפיתוח + ממשק ווב אינטראקטיבי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6771D"/>
                          </a:solidFill>
                          <a:latin typeface="Aptos Narrow"/>
                        </a:rPr>
                        <a:t>Python + Streamlit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589341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ניהול קוד, גרסאות, גיבוי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6771D"/>
                          </a:solidFill>
                          <a:latin typeface="Aptos Narrow"/>
                        </a:rPr>
                        <a:t>GitHub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50714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הרצה בענן, גישה מכל מקום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6771D"/>
                          </a:solidFill>
                          <a:latin typeface="Aptos Narrow"/>
                        </a:rPr>
                        <a:t>Streamlit Cloud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736262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 dirty="0">
                          <a:solidFill>
                            <a:srgbClr val="FFFFFF"/>
                          </a:solidFill>
                          <a:latin typeface="Aptos Narrow"/>
                        </a:rPr>
                        <a:t>יצירת Container, Tags, Triggers, Variables, פרסום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6771D"/>
                          </a:solidFill>
                          <a:latin typeface="Aptos Narrow"/>
                        </a:rPr>
                        <a:t>GTM API v2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288874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 dirty="0">
                          <a:solidFill>
                            <a:srgbClr val="FFFFFF"/>
                          </a:solidFill>
                          <a:latin typeface="Aptos Narrow"/>
                        </a:rPr>
                        <a:t>יצירת Property, Data Stream, הגדרות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6771D"/>
                          </a:solidFill>
                          <a:latin typeface="Aptos Narrow"/>
                        </a:rPr>
                        <a:t>GA4 Analytics Admin API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5541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אימות מאובטח מול Google APIs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6771D"/>
                          </a:solidFill>
                          <a:latin typeface="Aptos Narrow"/>
                        </a:rPr>
                        <a:t>OAuth 2.0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44346"/>
                  </a:ext>
                </a:extLst>
              </a:tr>
              <a:tr h="555480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פיתוח המערכת כולה — כתיבת הקוד, ארכיטקטורה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 dirty="0">
                          <a:solidFill>
                            <a:srgbClr val="F6771D"/>
                          </a:solidFill>
                          <a:latin typeface="Aptos Narrow"/>
                        </a:rPr>
                        <a:t>Claude AI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59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69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69CD9E-6EA7-4FAC-9975-FF8EFCAE028D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תהליך ההקמה — 4 שלבים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CCD62B-28ED-4396-A828-ECBCF1B55A59}"/>
              </a:ext>
            </a:extLst>
          </p:cNvPr>
          <p:cNvSpPr/>
          <p:nvPr/>
        </p:nvSpPr>
        <p:spPr>
          <a:xfrm>
            <a:off x="9554261" y="1397529"/>
            <a:ext cx="507868" cy="507868"/>
          </a:xfrm>
          <a:prstGeom prst="ellipse">
            <a:avLst/>
          </a:prstGeom>
          <a:solidFill>
            <a:srgbClr val="F6771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799" b="1">
                <a:solidFill>
                  <a:srgbClr val="000000"/>
                </a:solidFill>
              </a:rPr>
              <a:t>1</a:t>
            </a:r>
            <a:endParaRPr lang="LID4096" sz="1799" b="1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D48E6-D493-475E-889E-433BA7CDB7DF}"/>
              </a:ext>
            </a:extLst>
          </p:cNvPr>
          <p:cNvSpPr txBox="1"/>
          <p:nvPr/>
        </p:nvSpPr>
        <p:spPr>
          <a:xfrm>
            <a:off x="8633751" y="2095847"/>
            <a:ext cx="2348888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>
                <a:solidFill>
                  <a:srgbClr val="F6771D"/>
                </a:solidFill>
              </a:rPr>
              <a:t>פרטי הלקוח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6CCFD-E86D-43A3-9451-1125A5F19A48}"/>
              </a:ext>
            </a:extLst>
          </p:cNvPr>
          <p:cNvSpPr txBox="1"/>
          <p:nvPr/>
        </p:nvSpPr>
        <p:spPr>
          <a:xfrm>
            <a:off x="8697234" y="2603715"/>
            <a:ext cx="2221921" cy="253933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שם הלקוח + דומיין, דף תודה, האם eCommerce, שילובים: Ads / Facebook / Maskyoo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87C171-E515-4176-B382-EFE79B1D1E39}"/>
              </a:ext>
            </a:extLst>
          </p:cNvPr>
          <p:cNvSpPr/>
          <p:nvPr/>
        </p:nvSpPr>
        <p:spPr>
          <a:xfrm>
            <a:off x="7014922" y="1397529"/>
            <a:ext cx="507868" cy="507868"/>
          </a:xfrm>
          <a:prstGeom prst="ellipse">
            <a:avLst/>
          </a:prstGeom>
          <a:solidFill>
            <a:srgbClr val="C9673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799" b="1">
                <a:solidFill>
                  <a:srgbClr val="000000"/>
                </a:solidFill>
              </a:rPr>
              <a:t>2</a:t>
            </a:r>
            <a:endParaRPr lang="LID4096" sz="1799" b="1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172C7-778A-4BDF-B7EB-A91AEEFD489E}"/>
              </a:ext>
            </a:extLst>
          </p:cNvPr>
          <p:cNvSpPr txBox="1"/>
          <p:nvPr/>
        </p:nvSpPr>
        <p:spPr>
          <a:xfrm>
            <a:off x="6094412" y="2095847"/>
            <a:ext cx="2348888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>
                <a:solidFill>
                  <a:srgbClr val="F6771D"/>
                </a:solidFill>
              </a:rPr>
              <a:t>בחירת GA4 Account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FE66A-9FFA-4AAB-BEA8-345200CC27E4}"/>
              </a:ext>
            </a:extLst>
          </p:cNvPr>
          <p:cNvSpPr txBox="1"/>
          <p:nvPr/>
        </p:nvSpPr>
        <p:spPr>
          <a:xfrm>
            <a:off x="6157896" y="2603715"/>
            <a:ext cx="2221921" cy="253933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שליפת כל ה-Accounts הזמינים, בחירת Account, יצירת Property חדש (מוגבל ל-100)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FE6E90-94DB-45E5-BF53-4C6A1D7A696F}"/>
              </a:ext>
            </a:extLst>
          </p:cNvPr>
          <p:cNvSpPr/>
          <p:nvPr/>
        </p:nvSpPr>
        <p:spPr>
          <a:xfrm>
            <a:off x="4475584" y="1397529"/>
            <a:ext cx="507868" cy="507868"/>
          </a:xfrm>
          <a:prstGeom prst="ellipse">
            <a:avLst/>
          </a:prstGeom>
          <a:solidFill>
            <a:srgbClr val="9BAFB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799" b="1">
                <a:solidFill>
                  <a:srgbClr val="000000"/>
                </a:solidFill>
              </a:rPr>
              <a:t>3</a:t>
            </a:r>
            <a:endParaRPr lang="LID4096" sz="1799" b="1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CAC4CE-9C2F-4DDE-9699-B867CAF27F5A}"/>
              </a:ext>
            </a:extLst>
          </p:cNvPr>
          <p:cNvSpPr txBox="1"/>
          <p:nvPr/>
        </p:nvSpPr>
        <p:spPr>
          <a:xfrm>
            <a:off x="3555074" y="2095847"/>
            <a:ext cx="2348888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>
                <a:solidFill>
                  <a:srgbClr val="F6771D"/>
                </a:solidFill>
              </a:rPr>
              <a:t>אישור ובדיקה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C93F7-837C-4A69-A214-86FA41DFADA8}"/>
              </a:ext>
            </a:extLst>
          </p:cNvPr>
          <p:cNvSpPr txBox="1"/>
          <p:nvPr/>
        </p:nvSpPr>
        <p:spPr>
          <a:xfrm>
            <a:off x="3618557" y="2603715"/>
            <a:ext cx="2221921" cy="253933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סיכום כל הפרטים לפני הרצה, אפשרות לתקן לפני ביצוע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28F31BF-4969-43B7-90EA-3AB242024F41}"/>
              </a:ext>
            </a:extLst>
          </p:cNvPr>
          <p:cNvSpPr/>
          <p:nvPr/>
        </p:nvSpPr>
        <p:spPr>
          <a:xfrm>
            <a:off x="1936245" y="1397529"/>
            <a:ext cx="507868" cy="507868"/>
          </a:xfrm>
          <a:prstGeom prst="ellipse">
            <a:avLst/>
          </a:prstGeom>
          <a:solidFill>
            <a:srgbClr val="9CA383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799" b="1">
                <a:solidFill>
                  <a:srgbClr val="000000"/>
                </a:solidFill>
              </a:rPr>
              <a:t>4</a:t>
            </a:r>
            <a:endParaRPr lang="LID4096" sz="1799" b="1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E0C20D-C6EC-41F8-A438-1E0B0D9FCDB2}"/>
              </a:ext>
            </a:extLst>
          </p:cNvPr>
          <p:cNvSpPr txBox="1"/>
          <p:nvPr/>
        </p:nvSpPr>
        <p:spPr>
          <a:xfrm>
            <a:off x="1015735" y="2095847"/>
            <a:ext cx="2348888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>
                <a:solidFill>
                  <a:srgbClr val="F6771D"/>
                </a:solidFill>
              </a:rPr>
              <a:t>הרצה ותוצאות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3423B-839C-4AA3-B44F-23F52C6090CA}"/>
              </a:ext>
            </a:extLst>
          </p:cNvPr>
          <p:cNvSpPr txBox="1"/>
          <p:nvPr/>
        </p:nvSpPr>
        <p:spPr>
          <a:xfrm>
            <a:off x="1079218" y="2603715"/>
            <a:ext cx="2221921" cy="253933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30–40 שניות, לוג חי, תוצאה: כל ה-IDs + תגים + קוד HTML מוכן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644F221-0E36-4B30-A4E1-722E55A3CE17}"/>
              </a:ext>
            </a:extLst>
          </p:cNvPr>
          <p:cNvSpPr/>
          <p:nvPr/>
        </p:nvSpPr>
        <p:spPr>
          <a:xfrm>
            <a:off x="8468694" y="1549890"/>
            <a:ext cx="152360" cy="203147"/>
          </a:xfrm>
          <a:prstGeom prst="leftArrow">
            <a:avLst/>
          </a:prstGeom>
          <a:solidFill>
            <a:srgbClr val="F6771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r" rtl="1"/>
            <a:endParaRPr lang="LID4096" sz="1799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A3B41D82-A45B-41A3-868F-19C940CEB5EC}"/>
              </a:ext>
            </a:extLst>
          </p:cNvPr>
          <p:cNvSpPr/>
          <p:nvPr/>
        </p:nvSpPr>
        <p:spPr>
          <a:xfrm>
            <a:off x="5929355" y="1549890"/>
            <a:ext cx="152360" cy="203147"/>
          </a:xfrm>
          <a:prstGeom prst="leftArrow">
            <a:avLst/>
          </a:prstGeom>
          <a:solidFill>
            <a:srgbClr val="F6771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r" rtl="1"/>
            <a:endParaRPr lang="LID4096" sz="1799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B6DA3B8C-1935-416D-81D3-986703E6E1AB}"/>
              </a:ext>
            </a:extLst>
          </p:cNvPr>
          <p:cNvSpPr/>
          <p:nvPr/>
        </p:nvSpPr>
        <p:spPr>
          <a:xfrm>
            <a:off x="3390017" y="1549890"/>
            <a:ext cx="152360" cy="203147"/>
          </a:xfrm>
          <a:prstGeom prst="leftArrow">
            <a:avLst/>
          </a:prstGeom>
          <a:solidFill>
            <a:srgbClr val="F6771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r" rtl="1"/>
            <a:endParaRPr lang="LID4096" sz="1799"/>
          </a:p>
        </p:txBody>
      </p:sp>
    </p:spTree>
    <p:extLst>
      <p:ext uri="{BB962C8B-B14F-4D97-AF65-F5344CB8AC3E}">
        <p14:creationId xmlns:p14="http://schemas.microsoft.com/office/powerpoint/2010/main" val="155164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1E729-7963-4D90-8C80-6EADA7E61BD9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קישור לכלי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988-B3C7-4A08-A254-13571A793B70}"/>
              </a:ext>
            </a:extLst>
          </p:cNvPr>
          <p:cNvSpPr txBox="1"/>
          <p:nvPr/>
        </p:nvSpPr>
        <p:spPr>
          <a:xfrm>
            <a:off x="1066522" y="1270562"/>
            <a:ext cx="10601738" cy="50786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US" u="sng" dirty="0">
                <a:hlinkClick r:id="rId4"/>
              </a:rPr>
              <a:t>https://gtm-bot-automation-zowbjxqgu3tcwgexfdrlmb.streamlit.app/</a:t>
            </a:r>
            <a:endParaRPr lang="en-US" dirty="0"/>
          </a:p>
          <a:p>
            <a:pPr algn="r"/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0231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9D99-8A85-1474-773D-043E83B35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09C08576-3AB5-6C37-2642-6EE7331AB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266561C5-C8DB-58D6-7B13-E6A61044113F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F4F9CE7-61C1-99EC-926F-FCC94216B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41811E-B336-D909-790E-31570174F656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קורה מאחורי הקלעים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E9022-96A6-A515-58FE-235ED3EAE205}"/>
              </a:ext>
            </a:extLst>
          </p:cNvPr>
          <p:cNvSpPr txBox="1"/>
          <p:nvPr/>
        </p:nvSpPr>
        <p:spPr>
          <a:xfrm>
            <a:off x="1066522" y="1270562"/>
            <a:ext cx="10601738" cy="50786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9 פעולות אוטומטיות בלחיצת כפתור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יצירת Property ב-GA4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יצירת Web Data Stream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שליפת Measurement ID + Stream ID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יצירת GTM Container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יצירת Workspace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הפעלת Built-in Variables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יצירת Triggers + Variables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ייבוא Tags מ-template.json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פרסום Version ב-GTM</a:t>
            </a:r>
          </a:p>
        </p:txBody>
      </p:sp>
    </p:spTree>
    <p:extLst>
      <p:ext uri="{BB962C8B-B14F-4D97-AF65-F5344CB8AC3E}">
        <p14:creationId xmlns:p14="http://schemas.microsoft.com/office/powerpoint/2010/main" val="258311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1E729-7963-4D90-8C80-6EADA7E61BD9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התגים שמוקמים — תמיד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988-B3C7-4A08-A254-13571A793B70}"/>
              </a:ext>
            </a:extLst>
          </p:cNvPr>
          <p:cNvSpPr txBox="1"/>
          <p:nvPr/>
        </p:nvSpPr>
        <p:spPr>
          <a:xfrm>
            <a:off x="1066522" y="1270562"/>
            <a:ext cx="10601738" cy="50786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7 תגים קבועים לכל לקוח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GA4 Configuration — תג ראשי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GA4 Stream ID — משתנה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Conversion Linker — מעקב המרות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page_view — צפיות בדף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contact_form_submission — שליחת טופס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phone_clicks — לחיצות טלפון</a:t>
            </a:r>
          </a:p>
          <a:p>
            <a:pPr marL="228531" indent="-228531" algn="r" rtl="1">
              <a:spcAft>
                <a:spcPts val="1000"/>
              </a:spcAft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wa_clicks — לחיצות וואטסאפ</a:t>
            </a:r>
          </a:p>
          <a:p>
            <a:pPr algn="r" rtl="1">
              <a:spcAft>
                <a:spcPts val="400"/>
              </a:spcAft>
            </a:pPr>
            <a:r>
              <a:rPr lang="he-IL" sz="16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בנוסף: 5 טריגרים מוגדרים מראש + 2 משתנים (Measurement ID + Stream ID)</a:t>
            </a:r>
          </a:p>
        </p:txBody>
      </p:sp>
    </p:spTree>
    <p:extLst>
      <p:ext uri="{BB962C8B-B14F-4D97-AF65-F5344CB8AC3E}">
        <p14:creationId xmlns:p14="http://schemas.microsoft.com/office/powerpoint/2010/main" val="91386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FA122D-1837-4B26-8004-30827F32ABE7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תגים אופציונליים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A13649-7947-4063-B940-E69FD2AEB302}"/>
              </a:ext>
            </a:extLst>
          </p:cNvPr>
          <p:cNvGraphicFramePr>
            <a:graphicFrameLocks noGrp="1"/>
          </p:cNvGraphicFramePr>
          <p:nvPr/>
        </p:nvGraphicFramePr>
        <p:xfrm>
          <a:off x="1015735" y="1397529"/>
          <a:ext cx="10157354" cy="355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842">
                  <a:extLst>
                    <a:ext uri="{9D8B030D-6E8A-4147-A177-3AD203B41FA5}">
                      <a16:colId xmlns:a16="http://schemas.microsoft.com/office/drawing/2014/main" val="1288347658"/>
                    </a:ext>
                  </a:extLst>
                </a:gridCol>
                <a:gridCol w="3935975">
                  <a:extLst>
                    <a:ext uri="{9D8B030D-6E8A-4147-A177-3AD203B41FA5}">
                      <a16:colId xmlns:a16="http://schemas.microsoft.com/office/drawing/2014/main" val="457372680"/>
                    </a:ext>
                  </a:extLst>
                </a:gridCol>
                <a:gridCol w="1777537">
                  <a:extLst>
                    <a:ext uri="{9D8B030D-6E8A-4147-A177-3AD203B41FA5}">
                      <a16:colId xmlns:a16="http://schemas.microsoft.com/office/drawing/2014/main" val="1726469539"/>
                    </a:ext>
                  </a:extLst>
                </a:gridCol>
              </a:tblGrid>
              <a:tr h="711014"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  <a:cs typeface="Almoni Tzar AAA" panose="020B0506020202020204" pitchFamily="34" charset="-79"/>
                        </a:rPr>
                        <a:t>תגים</a:t>
                      </a:r>
                    </a:p>
                  </a:txBody>
                  <a:tcPr marL="91416" marR="91416" marT="45708" marB="45708" anchor="ctr">
                    <a:solidFill>
                      <a:srgbClr val="F6771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  <a:cs typeface="Almoni Tzar AAA" panose="020B0506020202020204" pitchFamily="34" charset="-79"/>
                        </a:rPr>
                        <a:t>שילוב</a:t>
                      </a:r>
                    </a:p>
                  </a:txBody>
                  <a:tcPr marL="91416" marR="91416" marT="45708" marB="45708" anchor="ctr">
                    <a:solidFill>
                      <a:srgbClr val="F6771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  <a:cs typeface="Almoni Tzar AAA" panose="020B0506020202020204" pitchFamily="34" charset="-79"/>
                        </a:rPr>
                        <a:t>קטגוריה</a:t>
                      </a:r>
                    </a:p>
                  </a:txBody>
                  <a:tcPr marL="91416" marR="91416" marT="45708" marB="45708" anchor="ctr">
                    <a:solidFill>
                      <a:srgbClr val="F67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082989"/>
                  </a:ext>
                </a:extLst>
              </a:tr>
              <a:tr h="711014">
                <a:tc>
                  <a:txBody>
                    <a:bodyPr/>
                    <a:lstStyle/>
                    <a:p>
                      <a:pPr algn="r" rtl="1"/>
                      <a:r>
                        <a:rPr lang="LID4096" sz="1200" dirty="0">
                          <a:solidFill>
                            <a:srgbClr val="FFFFFF"/>
                          </a:solidFill>
                          <a:latin typeface="Aptos Narrow"/>
                        </a:rPr>
                        <a:t>purchase, add_to_cart, remove_from_cart, begin_checkout, view_item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5 תגים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4444"/>
                          </a:solidFill>
                          <a:latin typeface="Aptos Narrow"/>
                        </a:rPr>
                        <a:t>eCommerce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57565"/>
                  </a:ext>
                </a:extLst>
              </a:tr>
              <a:tr h="711014">
                <a:tc>
                  <a:txBody>
                    <a:bodyPr/>
                    <a:lstStyle/>
                    <a:p>
                      <a:pPr algn="r" rtl="1"/>
                      <a:r>
                        <a:rPr lang="LID4096" sz="1200" dirty="0">
                          <a:solidFill>
                            <a:srgbClr val="FFFFFF"/>
                          </a:solidFill>
                          <a:latin typeface="Aptos Narrow"/>
                        </a:rPr>
                        <a:t>Remarketing Tag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200" dirty="0">
                          <a:solidFill>
                            <a:srgbClr val="FFFFFF"/>
                          </a:solidFill>
                          <a:latin typeface="Aptos Narrow"/>
                        </a:rPr>
                        <a:t>תג 1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FF8C00"/>
                          </a:solidFill>
                          <a:latin typeface="Aptos Narrow"/>
                        </a:rPr>
                        <a:t>Google Ads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038699"/>
                  </a:ext>
                </a:extLst>
              </a:tr>
              <a:tr h="711014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PageView, Purchase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2 תגים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>
                          <a:solidFill>
                            <a:srgbClr val="44CC44"/>
                          </a:solidFill>
                          <a:latin typeface="Aptos Narrow"/>
                        </a:rPr>
                        <a:t>Facebook Pixel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747248"/>
                  </a:ext>
                </a:extLst>
              </a:tr>
              <a:tr h="711014"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מספר וירטואלי (Virtual Number Tracking)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200">
                          <a:solidFill>
                            <a:srgbClr val="FFFFFF"/>
                          </a:solidFill>
                          <a:latin typeface="Aptos Narrow"/>
                        </a:rPr>
                        <a:t>תג 1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LID4096" sz="1400" b="1" dirty="0">
                          <a:solidFill>
                            <a:srgbClr val="88CC88"/>
                          </a:solidFill>
                          <a:latin typeface="Aptos Narrow"/>
                        </a:rPr>
                        <a:t>Maskyoo</a:t>
                      </a:r>
                    </a:p>
                  </a:txBody>
                  <a:tcPr marL="91416" marR="91416" marT="45708" marB="4570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8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9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30B546-1199-47B4-ADED-6B4D32AD194D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התוצר הסופי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F00BC-270A-419E-AA2E-B1549546550E}"/>
              </a:ext>
            </a:extLst>
          </p:cNvPr>
          <p:cNvSpPr txBox="1"/>
          <p:nvPr/>
        </p:nvSpPr>
        <p:spPr>
          <a:xfrm>
            <a:off x="1066522" y="1270562"/>
            <a:ext cx="10601738" cy="52056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מקבלים בסיום ההרצה</a:t>
            </a:r>
          </a:p>
          <a:p>
            <a:pPr algn="r" rtl="1">
              <a:spcAft>
                <a:spcPts val="800"/>
              </a:spcAft>
            </a:pPr>
            <a:r>
              <a:rPr lang="he-IL" sz="16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בסיום 30–40 שניות, המשתמש מקבל: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GTM Container ID — GTM-XXXXXXX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GA4 Measurement ID — G-XXXXXXXXXX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Property ID — מספרי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רשימת כל התגים שהוקמו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קוד HEAD — סקריפט GTM להטמעה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קוד BODY — noscript fallback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לוג הרצה מלא + קישור ל-CRM</a:t>
            </a:r>
          </a:p>
        </p:txBody>
      </p:sp>
    </p:spTree>
    <p:extLst>
      <p:ext uri="{BB962C8B-B14F-4D97-AF65-F5344CB8AC3E}">
        <p14:creationId xmlns:p14="http://schemas.microsoft.com/office/powerpoint/2010/main" val="152998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6AFF0FC-083A-4626-AB7C-73487445C55D}"/>
              </a:ext>
            </a:extLst>
          </p:cNvPr>
          <p:cNvSpPr/>
          <p:nvPr/>
        </p:nvSpPr>
        <p:spPr>
          <a:xfrm>
            <a:off x="1142702" y="1880004"/>
            <a:ext cx="10220838" cy="25393"/>
          </a:xfrm>
          <a:prstGeom prst="rect">
            <a:avLst/>
          </a:prstGeom>
          <a:solidFill>
            <a:srgbClr val="4A5356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r" rtl="1"/>
            <a:endParaRPr lang="LID4096" sz="1799"/>
          </a:p>
        </p:txBody>
      </p:sp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2B3E11-4D50-4974-98C6-2E485805CF44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הלאה — מפת דרכים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1A0979-6B2B-4CAF-A22A-D2D77DF056AA}"/>
              </a:ext>
            </a:extLst>
          </p:cNvPr>
          <p:cNvSpPr/>
          <p:nvPr/>
        </p:nvSpPr>
        <p:spPr>
          <a:xfrm>
            <a:off x="9744711" y="1714947"/>
            <a:ext cx="1015735" cy="355507"/>
          </a:xfrm>
          <a:prstGeom prst="roundRect">
            <a:avLst/>
          </a:prstGeom>
          <a:solidFill>
            <a:srgbClr val="F6771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400" b="1">
                <a:solidFill>
                  <a:srgbClr val="000000"/>
                </a:solidFill>
              </a:rPr>
              <a:t>שלב ב׳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75267-FE5A-49A1-91AC-C31725B9AE8E}"/>
              </a:ext>
            </a:extLst>
          </p:cNvPr>
          <p:cNvSpPr txBox="1"/>
          <p:nvPr/>
        </p:nvSpPr>
        <p:spPr>
          <a:xfrm>
            <a:off x="9014651" y="2197421"/>
            <a:ext cx="2475855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F6771D"/>
                </a:solidFill>
              </a:rPr>
              <a:t>חיבור SSH לשרתים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4D312-364E-46DC-9BBD-629EC82AB3D7}"/>
              </a:ext>
            </a:extLst>
          </p:cNvPr>
          <p:cNvSpPr txBox="1"/>
          <p:nvPr/>
        </p:nvSpPr>
        <p:spPr>
          <a:xfrm>
            <a:off x="9078135" y="2705288"/>
            <a:ext cx="2348888" cy="215843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חיבור אוטומטי לשרתי Cloudways, מיפוי אתרים דרך sites.json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B91FE-14FE-4C8E-B478-D0A7A00A841A}"/>
              </a:ext>
            </a:extLst>
          </p:cNvPr>
          <p:cNvSpPr txBox="1"/>
          <p:nvPr/>
        </p:nvSpPr>
        <p:spPr>
          <a:xfrm>
            <a:off x="9617744" y="5016086"/>
            <a:ext cx="1269669" cy="3047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F6771D"/>
                </a:solidFill>
              </a:rPr>
              <a:t>קרוב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03F9FB-4213-4886-ADA2-C13291D1717C}"/>
              </a:ext>
            </a:extLst>
          </p:cNvPr>
          <p:cNvSpPr/>
          <p:nvPr/>
        </p:nvSpPr>
        <p:spPr>
          <a:xfrm>
            <a:off x="7078406" y="1714947"/>
            <a:ext cx="1015735" cy="355507"/>
          </a:xfrm>
          <a:prstGeom prst="roundRect">
            <a:avLst/>
          </a:prstGeom>
          <a:solidFill>
            <a:srgbClr val="C9673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400" b="1">
                <a:solidFill>
                  <a:srgbClr val="000000"/>
                </a:solidFill>
              </a:rPr>
              <a:t>שלב ג׳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E8A2F-9479-4DF6-A203-61DD0CC58DBE}"/>
              </a:ext>
            </a:extLst>
          </p:cNvPr>
          <p:cNvSpPr txBox="1"/>
          <p:nvPr/>
        </p:nvSpPr>
        <p:spPr>
          <a:xfrm>
            <a:off x="6348346" y="2197421"/>
            <a:ext cx="2475855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F6771D"/>
                </a:solidFill>
              </a:rPr>
              <a:t>הטמעה ב-WordPress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8DB04-7B5F-402F-9B08-5D93B46BE820}"/>
              </a:ext>
            </a:extLst>
          </p:cNvPr>
          <p:cNvSpPr txBox="1"/>
          <p:nvPr/>
        </p:nvSpPr>
        <p:spPr>
          <a:xfrm>
            <a:off x="6411829" y="2705288"/>
            <a:ext cx="2348888" cy="215843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הטמעת קוד GTM אוטומטית דרך WP-CLI ב-HEAD + BODY, אימות הצלחה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8721A-C50C-438C-9095-FC9568E033EE}"/>
              </a:ext>
            </a:extLst>
          </p:cNvPr>
          <p:cNvSpPr txBox="1"/>
          <p:nvPr/>
        </p:nvSpPr>
        <p:spPr>
          <a:xfrm>
            <a:off x="6951439" y="5016086"/>
            <a:ext cx="1269669" cy="3047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b="1">
                <a:solidFill>
                  <a:srgbClr val="F6771D"/>
                </a:solidFill>
              </a:rPr>
              <a:t>מתוכנן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2A2FA3-E993-4FC0-85C2-73D798BA0630}"/>
              </a:ext>
            </a:extLst>
          </p:cNvPr>
          <p:cNvSpPr/>
          <p:nvPr/>
        </p:nvSpPr>
        <p:spPr>
          <a:xfrm>
            <a:off x="4412100" y="1714947"/>
            <a:ext cx="1015735" cy="355507"/>
          </a:xfrm>
          <a:prstGeom prst="roundRect">
            <a:avLst/>
          </a:prstGeom>
          <a:solidFill>
            <a:srgbClr val="9BAFB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400" b="1">
                <a:solidFill>
                  <a:srgbClr val="000000"/>
                </a:solidFill>
              </a:rPr>
              <a:t>שלב ד׳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0B53EC-AD6D-4EA3-BE01-CEA357DF94EB}"/>
              </a:ext>
            </a:extLst>
          </p:cNvPr>
          <p:cNvSpPr txBox="1"/>
          <p:nvPr/>
        </p:nvSpPr>
        <p:spPr>
          <a:xfrm>
            <a:off x="3682040" y="2197421"/>
            <a:ext cx="2475855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F6771D"/>
                </a:solidFill>
              </a:rPr>
              <a:t>חלופות הטמעה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A60595-D1A6-40FA-827A-EC3D5A02215F}"/>
              </a:ext>
            </a:extLst>
          </p:cNvPr>
          <p:cNvSpPr txBox="1"/>
          <p:nvPr/>
        </p:nvSpPr>
        <p:spPr>
          <a:xfrm>
            <a:off x="3745524" y="2705288"/>
            <a:ext cx="2348888" cy="215843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REST API + App Password, או Insert Headers and Footers Plugin כחלופה ל-SSH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4CA975-2C6B-480D-94AC-5039CC354206}"/>
              </a:ext>
            </a:extLst>
          </p:cNvPr>
          <p:cNvSpPr txBox="1"/>
          <p:nvPr/>
        </p:nvSpPr>
        <p:spPr>
          <a:xfrm>
            <a:off x="4285133" y="5016086"/>
            <a:ext cx="1269669" cy="3047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b="1">
                <a:solidFill>
                  <a:srgbClr val="F6771D"/>
                </a:solidFill>
              </a:rPr>
              <a:t>מתוכנן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0896C1-D0F7-4AE4-AAF8-4B92F94C15CA}"/>
              </a:ext>
            </a:extLst>
          </p:cNvPr>
          <p:cNvSpPr/>
          <p:nvPr/>
        </p:nvSpPr>
        <p:spPr>
          <a:xfrm>
            <a:off x="1745795" y="1714947"/>
            <a:ext cx="1015735" cy="355507"/>
          </a:xfrm>
          <a:prstGeom prst="roundRect">
            <a:avLst/>
          </a:prstGeom>
          <a:solidFill>
            <a:srgbClr val="9CA383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r" rtl="1"/>
            <a:r>
              <a:rPr lang="he-IL" sz="1400" b="1">
                <a:solidFill>
                  <a:srgbClr val="000000"/>
                </a:solidFill>
              </a:rPr>
              <a:t>שלב ה׳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9C72FF-E4BE-4FCE-9C0E-C2877D00D18D}"/>
              </a:ext>
            </a:extLst>
          </p:cNvPr>
          <p:cNvSpPr txBox="1"/>
          <p:nvPr/>
        </p:nvSpPr>
        <p:spPr>
          <a:xfrm>
            <a:off x="1015735" y="2197421"/>
            <a:ext cx="2475855" cy="4443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F6771D"/>
                </a:solidFill>
              </a:rPr>
              <a:t>Zero-Touch מלא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AD3F1C-027D-4F03-A866-2C2EFA3B8D28}"/>
              </a:ext>
            </a:extLst>
          </p:cNvPr>
          <p:cNvSpPr txBox="1"/>
          <p:nvPr/>
        </p:nvSpPr>
        <p:spPr>
          <a:xfrm>
            <a:off x="1079218" y="2705288"/>
            <a:ext cx="2348888" cy="215843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dirty="0">
                <a:solidFill>
                  <a:srgbClr val="FFFFFF"/>
                </a:solidFill>
              </a:rPr>
              <a:t>מהזנת פרטי לקוח ועד אתר חי עם GTM + GA4 — ללא מגע ידני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404D92-6268-4A07-872B-E378DC1BB2C7}"/>
              </a:ext>
            </a:extLst>
          </p:cNvPr>
          <p:cNvSpPr txBox="1"/>
          <p:nvPr/>
        </p:nvSpPr>
        <p:spPr>
          <a:xfrm>
            <a:off x="1618828" y="5016086"/>
            <a:ext cx="1269669" cy="3047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1400" b="1">
                <a:solidFill>
                  <a:srgbClr val="F6771D"/>
                </a:solidFill>
              </a:rPr>
              <a:t>אופציונלי</a:t>
            </a:r>
          </a:p>
        </p:txBody>
      </p:sp>
    </p:spTree>
    <p:extLst>
      <p:ext uri="{BB962C8B-B14F-4D97-AF65-F5344CB8AC3E}">
        <p14:creationId xmlns:p14="http://schemas.microsoft.com/office/powerpoint/2010/main" val="101501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1E729-7963-4D90-8C80-6EADA7E61BD9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לפני ואחרי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988-B3C7-4A08-A254-13571A793B70}"/>
              </a:ext>
            </a:extLst>
          </p:cNvPr>
          <p:cNvSpPr txBox="1"/>
          <p:nvPr/>
        </p:nvSpPr>
        <p:spPr>
          <a:xfrm>
            <a:off x="1066522" y="1270562"/>
            <a:ext cx="10601738" cy="50786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לפני — ידני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זמן הקמה: 1–2 שעות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GTM Container: ידני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GA4 Property: ידני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תגים: אחד-אחד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קוד HTML: העתקה ידנית</a:t>
            </a:r>
          </a:p>
          <a:p>
            <a:pPr marL="228531" indent="-228531" algn="r" rtl="1">
              <a:spcAft>
                <a:spcPts val="1000"/>
              </a:spcAft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תיעוד: אין | עקביות: תלויה במבצע</a:t>
            </a:r>
          </a:p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אחרי — אוטומציה מלאה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זמן הקמה: 30–40 שניות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GTM + GA4: אוטומטי לחלוטין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תגים: כולם בבת אחת מ-template.json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קוד HTML: מוכן להטמעה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תיעוד: אוטומטי מלא | עקביות: 100%</a:t>
            </a:r>
          </a:p>
        </p:txBody>
      </p:sp>
    </p:spTree>
    <p:extLst>
      <p:ext uri="{BB962C8B-B14F-4D97-AF65-F5344CB8AC3E}">
        <p14:creationId xmlns:p14="http://schemas.microsoft.com/office/powerpoint/2010/main" val="220305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CD0C59-4FFE-453D-94D2-FF09F74BAF5D}"/>
              </a:ext>
            </a:extLst>
          </p:cNvPr>
          <p:cNvSpPr txBox="1"/>
          <p:nvPr/>
        </p:nvSpPr>
        <p:spPr>
          <a:xfrm>
            <a:off x="5713511" y="572244"/>
            <a:ext cx="5967446" cy="63483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2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שלב א׳ הושלם בהצלחה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8FA20-561D-4A71-9827-4CCE554A0D35}"/>
              </a:ext>
            </a:extLst>
          </p:cNvPr>
          <p:cNvSpPr txBox="1"/>
          <p:nvPr/>
        </p:nvSpPr>
        <p:spPr>
          <a:xfrm>
            <a:off x="1066522" y="1270562"/>
            <a:ext cx="10601738" cy="52056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הושג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אפליקציית ווב עם ממשק Streamlit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אוטומציה מלאה של GTM + GA4 דרך Google APIs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תגים אחידים לכל לקוח — 7 קבועים + אופציונליים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חיבור מאובטח ב-OAuth 2.0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ממשק פשוט — לא דורש ידע טכני</a:t>
            </a:r>
          </a:p>
          <a:p>
            <a:pPr marL="228531" indent="-228531" algn="r" rtl="1">
              <a:spcAft>
                <a:spcPts val="1000"/>
              </a:spcAft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קיצור מ-4 שעות ל-40 שניות</a:t>
            </a:r>
          </a:p>
          <a:p>
            <a:pPr algn="r" rtl="1">
              <a:spcAft>
                <a:spcPts val="600"/>
              </a:spcAft>
            </a:pPr>
            <a:r>
              <a:rPr lang="he-IL" sz="1799" b="1" dirty="0">
                <a:solidFill>
                  <a:srgbClr val="F6771D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מה נדרש לשלב ב׳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אישור תקציב וזמן לפיתוח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גישת SSH לשרתי Cloudways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סקריפט הטמעה אוטומטי ב-WordPress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בדיקות על לקוח אחד → הרחבה לכולם</a:t>
            </a:r>
          </a:p>
          <a:p>
            <a:pPr marL="228531" indent="-228531" algn="r" rtl="1">
              <a:buFont typeface="Arial"/>
              <a:buChar char="•"/>
            </a:pPr>
            <a:r>
              <a:rPr lang="he-IL" sz="1500" dirty="0">
                <a:solidFill>
                  <a:schemeClr val="bg1"/>
                </a:solidFill>
                <a:latin typeface="Aptos Narrow" panose="020B0004020202020204" pitchFamily="34" charset="0"/>
                <a:cs typeface="Almoni Tzar AAA" panose="020B0506020202020204" pitchFamily="34" charset="-79"/>
              </a:rPr>
              <a:t>יעד: Zero-Touch מלא — מפרטי לקוח ועד אתר חי</a:t>
            </a:r>
          </a:p>
        </p:txBody>
      </p:sp>
    </p:spTree>
    <p:extLst>
      <p:ext uri="{BB962C8B-B14F-4D97-AF65-F5344CB8AC3E}">
        <p14:creationId xmlns:p14="http://schemas.microsoft.com/office/powerpoint/2010/main" val="9243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782-3FA0-7C65-42B0-1FE787F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99D42AF5-CD4B-9A94-4FB4-2451105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C1BD741C-BE93-6300-503F-851FD20F8C18}"/>
              </a:ext>
            </a:extLst>
          </p:cNvPr>
          <p:cNvCxnSpPr/>
          <p:nvPr/>
        </p:nvCxnSpPr>
        <p:spPr>
          <a:xfrm>
            <a:off x="11815296" y="325272"/>
            <a:ext cx="3735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554C9E-5AF0-BD0C-7C3A-EA7AA954602D}"/>
              </a:ext>
            </a:extLst>
          </p:cNvPr>
          <p:cNvSpPr txBox="1"/>
          <p:nvPr/>
        </p:nvSpPr>
        <p:spPr>
          <a:xfrm>
            <a:off x="5550136" y="171424"/>
            <a:ext cx="6174725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1200"/>
              </a:spcBef>
              <a:defRPr sz="1400">
                <a:solidFill>
                  <a:srgbClr val="363D6E"/>
                </a:solidFill>
              </a:defRPr>
            </a:lvl1pPr>
          </a:lstStyle>
          <a:p>
            <a:pPr marL="0" algn="r" defTabSz="914126" rtl="1" eaLnBrk="1" latinLnBrk="0" hangingPunct="1">
              <a:lnSpc>
                <a:spcPct val="100000"/>
              </a:lnSpc>
              <a:spcBef>
                <a:spcPts val="1200"/>
              </a:spcBef>
            </a:pPr>
            <a:r>
              <a:rPr lang="he-IL" sz="1400" b="1" dirty="0">
                <a:solidFill>
                  <a:srgbClr val="FFC000"/>
                </a:solidFill>
                <a:latin typeface="Almoni Tzar AAA" panose="020B0506020202020204" pitchFamily="34" charset="-79"/>
                <a:ea typeface="Open Sans ExtraBold" panose="020B0906030804020204" pitchFamily="34" charset="0"/>
                <a:cs typeface="Almoni Tzar AAA" panose="020B0506020202020204" pitchFamily="34" charset="-79"/>
              </a:rPr>
              <a:t>סלקטד // </a:t>
            </a:r>
            <a:r>
              <a:rPr lang="he-IL" sz="1400" dirty="0">
                <a:solidFill>
                  <a:schemeClr val="bg1"/>
                </a:solidFill>
                <a:latin typeface="Almoni Tzar AAA" panose="020B0506020202020204" pitchFamily="34" charset="-79"/>
                <a:ea typeface="Open Sans ExtraBold" panose="020B0906030804020204" pitchFamily="34" charset="0"/>
                <a:cs typeface="Almoni Tzar AAA" panose="020B0506020202020204" pitchFamily="34" charset="-79"/>
              </a:rPr>
              <a:t>סיכום פרויקט 2026</a:t>
            </a:r>
            <a:endParaRPr lang="en-US" sz="1400" dirty="0">
              <a:solidFill>
                <a:schemeClr val="bg1"/>
              </a:solidFill>
              <a:latin typeface="Almoni Tzar AAA" panose="020B0506020202020204" pitchFamily="34" charset="-79"/>
              <a:ea typeface="Open Sans ExtraBold" panose="020B0906030804020204" pitchFamily="34" charset="0"/>
              <a:cs typeface="Almoni Tzar AAA" panose="020B0506020202020204" pitchFamily="34" charset="-79"/>
            </a:endParaRPr>
          </a:p>
        </p:txBody>
      </p:sp>
      <p:sp>
        <p:nvSpPr>
          <p:cNvPr id="14" name="Rectangle 73">
            <a:extLst>
              <a:ext uri="{FF2B5EF4-FFF2-40B4-BE49-F238E27FC236}">
                <a16:creationId xmlns:a16="http://schemas.microsoft.com/office/drawing/2014/main" id="{D8479507-8F62-56EA-DF57-2E1EEABFDA2D}"/>
              </a:ext>
            </a:extLst>
          </p:cNvPr>
          <p:cNvSpPr/>
          <p:nvPr/>
        </p:nvSpPr>
        <p:spPr>
          <a:xfrm>
            <a:off x="2983533" y="3160414"/>
            <a:ext cx="6221759" cy="1015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defTabSz="914126" rtl="1" eaLnBrk="1" latinLnBrk="0" hangingPunct="1"/>
            <a:r>
              <a:rPr lang="he-IL" sz="5998" b="1" dirty="0">
                <a:solidFill>
                  <a:srgbClr val="F6771D"/>
                </a:solidFill>
                <a:latin typeface="Almoni Tzar AAA" panose="020B0506020202020204" pitchFamily="34" charset="-79"/>
                <a:cs typeface="Almoni Tzar AAA" panose="020B0506020202020204" pitchFamily="34" charset="-79"/>
              </a:rPr>
              <a:t>תודה!</a:t>
            </a:r>
            <a:endParaRPr lang="he-IL" sz="5998" dirty="0">
              <a:solidFill>
                <a:srgbClr val="F6771D"/>
              </a:solidFill>
              <a:latin typeface="Aptos Narrow" panose="020B0004020202020204" pitchFamily="34" charset="0"/>
              <a:cs typeface="Almoni Tzar AAA" panose="020B0506020202020204" pitchFamily="34" charset="-79"/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BECA36C-BC5A-CD88-AB54-541B27E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79" y="236809"/>
            <a:ext cx="1153070" cy="2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0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_13631748_TF10001120">
  <a:themeElements>
    <a:clrScheme name="חבילה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חבילה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חבילה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31748_TF10001120" id="{9A680F6E-80EE-4ACC-B01E-72B9B78B21B0}" vid="{4BF6B73A-1994-4FDB-822D-49AA65B57D5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85F809-C1B0-4E88-8774-02CE396E7AC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805d030-de22-4236-9c85-ceacaac06f1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721</Words>
  <Application>Microsoft Office PowerPoint</Application>
  <PresentationFormat>Custom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Aptos Narrow</vt:lpstr>
      <vt:lpstr>Almoni Tzar AAA</vt:lpstr>
      <vt:lpstr>Arial</vt:lpstr>
      <vt:lpstr>Gill Sans MT</vt:lpstr>
      <vt:lpstr>Office Theme</vt:lpstr>
      <vt:lpstr>Office_13631748_TF10001120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SEM SELECTED</cp:lastModifiedBy>
  <cp:revision>9</cp:revision>
  <dcterms:created xsi:type="dcterms:W3CDTF">2013-01-27T09:14:16Z</dcterms:created>
  <dcterms:modified xsi:type="dcterms:W3CDTF">2026-05-05T11:37:08Z</dcterms:modified>
  <cp:category/>
</cp:coreProperties>
</file>